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Roboto Mono Light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C8DA9E-B1A0-4A86-91D4-0D2497F3468D}">
  <a:tblStyle styleId="{E1C8DA9E-B1A0-4A86-91D4-0D2497F346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MonoLight-regular.fntdata"/><Relationship Id="rId14" Type="http://schemas.openxmlformats.org/officeDocument/2006/relationships/font" Target="fonts/RobotoMonoLight-bold.fntdata"/><Relationship Id="rId15" Type="http://schemas.openxmlformats.org/officeDocument/2006/relationships/font" Target="fonts/RobotoMonoLight-italic.fntdata"/><Relationship Id="rId16" Type="http://schemas.openxmlformats.org/officeDocument/2006/relationships/font" Target="fonts/RobotoMonoLight-boldItalic.fntdata"/><Relationship Id="rId17" Type="http://schemas.openxmlformats.org/officeDocument/2006/relationships/font" Target="fonts/OpenSansLight-regular.fntdata"/><Relationship Id="rId18" Type="http://schemas.openxmlformats.org/officeDocument/2006/relationships/font" Target="fonts/OpenSansLight-bold.fntdata"/><Relationship Id="rId19" Type="http://schemas.openxmlformats.org/officeDocument/2006/relationships/font" Target="fonts/OpenSansLight-italic.fntdata"/><Relationship Id="rId20" Type="http://schemas.openxmlformats.org/officeDocument/2006/relationships/font" Target="fonts/OpenSansLight-boldItalic.fntdata"/><Relationship Id="rId21" Type="http://schemas.openxmlformats.org/officeDocument/2006/relationships/font" Target="fonts/OpenSans-regular.fntdata"/><Relationship Id="rId22" Type="http://schemas.openxmlformats.org/officeDocument/2006/relationships/font" Target="fonts/OpenSans-bold.fntdata"/><Relationship Id="rId23" Type="http://schemas.openxmlformats.org/officeDocument/2006/relationships/font" Target="fonts/OpenSans-italic.fntdata"/><Relationship Id="rId24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A/B Test Results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Leo Lin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05050"/>
                </a:solidFill>
              </a:rPr>
              <a:t>Findings of A/B test analysis for an e-commerce website</a:t>
            </a:r>
            <a:endParaRPr sz="3000">
              <a:solidFill>
                <a:srgbClr val="2D3D4A"/>
              </a:solidFill>
            </a:endParaRP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1. Experiment Setup</a:t>
            </a:r>
          </a:p>
          <a:p>
            <a:r>
              <a:rPr sz="1200" b="0">
                <a:solidFill>
                  <a:srgbClr val="505050"/>
                </a:solidFill>
              </a:rPr>
              <a:t>    Dataset overview, group sizes, and country distribution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2. Conversion Rates</a:t>
            </a:r>
          </a:p>
          <a:p>
            <a:r>
              <a:rPr sz="1200" b="0">
                <a:solidFill>
                  <a:srgbClr val="505050"/>
                </a:solidFill>
              </a:rPr>
              <a:t>    Probability analysis by group, country, and interaction effects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3. Experiment Results</a:t>
            </a:r>
          </a:p>
          <a:p>
            <a:r>
              <a:rPr sz="1200" b="0">
                <a:solidFill>
                  <a:srgbClr val="505050"/>
                </a:solidFill>
              </a:rPr>
              <a:t>    Hypothesis test via simulation, p-value, and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How Was the Experiment Implemented?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31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3366"/>
                </a:solidFill>
              </a:rPr>
              <a:t>Dataset: 69,889 visitors from an e-commerce A/B test</a:t>
            </a:r>
            <a:endParaRPr>
              <a:solidFill>
                <a:srgbClr val="FF0000"/>
              </a:solidFill>
            </a:endParaRPr>
          </a:p>
          <a:p>
            <a:r>
              <a:rPr sz="800" b="0"/>
              <a:t/>
            </a:r>
          </a:p>
          <a:p>
            <a:r>
              <a:rPr sz="1400" b="0"/>
              <a:t>Total Treatment Visitors: 35,211  (50.4%)</a:t>
            </a:r>
          </a:p>
          <a:p>
            <a:r>
              <a:rPr sz="1400" b="0"/>
              <a:t>Total Control Visitors: 34,678  (49.6%)</a:t>
            </a: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003366"/>
                </a:solidFill>
              </a:rPr>
              <a:t>Visitors by Country:</a:t>
            </a:r>
          </a:p>
          <a:p>
            <a:r>
              <a:rPr sz="1300" b="0"/>
              <a:t>  US: 48,850  (69.9%)</a:t>
            </a:r>
          </a:p>
          <a:p>
            <a:r>
              <a:rPr sz="1300" b="0"/>
              <a:t>  UK: 17,551  (25.1%)</a:t>
            </a:r>
          </a:p>
          <a:p>
            <a:r>
              <a:rPr sz="1300" b="0"/>
              <a:t>  CA:  3,488  ( 5.0%)</a:t>
            </a:r>
          </a:p>
          <a:p>
            <a:r>
              <a:rPr sz="800" b="0"/>
              <a:t/>
            </a:r>
          </a:p>
          <a:p>
            <a:r>
              <a:rPr sz="1200" b="0">
                <a:solidFill>
                  <a:srgbClr val="505050"/>
                </a:solidFill>
              </a:rPr>
              <a:t>No missing values in the dataset.</a:t>
            </a:r>
          </a:p>
          <a:p>
            <a:r>
              <a:rPr sz="1200" b="0">
                <a:solidFill>
                  <a:srgbClr val="505050"/>
                </a:solidFill>
              </a:rPr>
              <a:t>Groups are approximately evenly split (50/50).</a:t>
            </a:r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475" y="4994500"/>
            <a:ext cx="8853051" cy="38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Conversion</a:t>
            </a:r>
            <a:r>
              <a:rPr lang="en" sz="6400"/>
              <a:t> Rates</a:t>
            </a:r>
            <a:endParaRPr sz="6400"/>
          </a:p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947100" y="5878275"/>
            <a:ext cx="16393800" cy="25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3366"/>
                </a:solidFill>
              </a:rPr>
              <a:t>Overall conversion rate: 13.0%</a:t>
            </a:r>
            <a:endParaRPr>
              <a:solidFill>
                <a:srgbClr val="FF0000"/>
              </a:solidFill>
            </a:endParaRP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003366"/>
                </a:solidFill>
              </a:rPr>
              <a:t>By Group:</a:t>
            </a:r>
          </a:p>
          <a:p>
            <a:r>
              <a:rPr sz="1400" b="0"/>
              <a:t>  Control: 10.5%    |    Treatment: 15.5%</a:t>
            </a: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003366"/>
                </a:solidFill>
              </a:rPr>
              <a:t>By Country:</a:t>
            </a:r>
          </a:p>
          <a:p>
            <a:r>
              <a:rPr sz="1400" b="0"/>
              <a:t>  US: 13.3%    |    UK: 12.5%    |    CA: 12.5%</a:t>
            </a: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003366"/>
                </a:solidFill>
              </a:rPr>
              <a:t>By Country x Group:</a:t>
            </a:r>
          </a:p>
          <a:p>
            <a:r>
              <a:rPr sz="1200" b="0">
                <a:solidFill>
                  <a:srgbClr val="505050"/>
                </a:solidFill>
              </a:rPr>
              <a:t>             US        UK        CA</a:t>
            </a:r>
          </a:p>
          <a:p>
            <a:r>
              <a:rPr sz="1200" b="0">
                <a:solidFill>
                  <a:srgbClr val="505050"/>
                </a:solidFill>
              </a:rPr>
              <a:t>  Control:   10.7%     10.2%     9.4%</a:t>
            </a:r>
          </a:p>
          <a:p>
            <a:r>
              <a:rPr sz="1200" b="0">
                <a:solidFill>
                  <a:srgbClr val="505050"/>
                </a:solidFill>
              </a:rPr>
              <a:t>  Treatment: 15.8%     14.9%     15.4%</a:t>
            </a: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006633"/>
                </a:solidFill>
              </a:rPr>
              <a:t>Executive Summary:</a:t>
            </a:r>
          </a:p>
          <a:p>
            <a:r>
              <a:rPr sz="1300" b="0"/>
              <a:t>The treatment page shows ~5pp higher conversion across ALL countries.</a:t>
            </a:r>
          </a:p>
          <a:p>
            <a:r>
              <a:rPr sz="1300" b="0"/>
              <a:t>No interaction effect: country does not moderate treatment impact.</a:t>
            </a:r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952500" y="202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{E1C8DA9E-B1A0-4A86-91D4-0D2497F3468D}</a:tableStyleId>
              </a:tblPr>
              <a:tblGrid>
                <a:gridCol w="4095750"/>
                <a:gridCol w="4095750"/>
                <a:gridCol w="4095750"/>
                <a:gridCol w="4095750"/>
              </a:tblGrid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U.S.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U.K.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Control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Your Values Here</a:t>
                      </a:r>
                      <a:endParaRPr sz="28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Experiment Results</a:t>
            </a:r>
            <a:endParaRPr sz="6400"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sz="1400" b="0"/>
              <a:t>Treatment Conversion Rate: 15.53%</a:t>
            </a:r>
            <a:endParaRPr>
              <a:solidFill>
                <a:srgbClr val="FF0000"/>
              </a:solidFill>
            </a:endParaRPr>
          </a:p>
          <a:p>
            <a:r>
              <a:rPr sz="1400" b="0"/>
              <a:t>Control Conversion Rate: 10.53%</a:t>
            </a:r>
          </a:p>
          <a:p>
            <a:r>
              <a:rPr sz="1400" b="1">
                <a:solidFill>
                  <a:srgbClr val="006633"/>
                </a:solidFill>
              </a:rPr>
              <a:t>Delta (Treatment - Control): +5.01 percentage points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003366"/>
                </a:solidFill>
              </a:rPr>
              <a:t>Hypothesis Test:</a:t>
            </a:r>
          </a:p>
          <a:p>
            <a:r>
              <a:rPr sz="1200" b="0">
                <a:solidFill>
                  <a:srgbClr val="505050"/>
                </a:solidFill>
              </a:rPr>
              <a:t>  H0: p_treatment - p_control &lt;= 0 (no improvement)</a:t>
            </a:r>
          </a:p>
          <a:p>
            <a:r>
              <a:rPr sz="1200" b="0">
                <a:solidFill>
                  <a:srgbClr val="505050"/>
                </a:solidFill>
              </a:rPr>
              <a:t>  H1: p_treatment - p_control &gt; 0 (treatment is better)</a:t>
            </a:r>
          </a:p>
          <a:p>
            <a:r>
              <a:rPr sz="1200" b="0">
                <a:solidFill>
                  <a:srgbClr val="505050"/>
                </a:solidFill>
              </a:rPr>
              <a:t>  Method: 500 simulations under the null</a:t>
            </a:r>
          </a:p>
          <a:p>
            <a:r>
              <a:rPr sz="1200" b="0">
                <a:solidFill>
                  <a:srgbClr val="505050"/>
                </a:solidFill>
              </a:rPr>
              <a:t>  Significance level: alpha = 0.05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990000"/>
                </a:solidFill>
              </a:rPr>
              <a:t>p-value: 0.0000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003366"/>
                </a:solidFill>
              </a:rPr>
              <a:t>Conclusion:</a:t>
            </a:r>
          </a:p>
          <a:p>
            <a:r>
              <a:rPr sz="1300" b="0"/>
              <a:t>We reject the null hypothesis. The treatment page has a statistically</a:t>
            </a:r>
          </a:p>
          <a:p>
            <a:r>
              <a:rPr sz="1300" b="0"/>
              <a:t>significant higher conversion rate than the control page. None of the</a:t>
            </a:r>
          </a:p>
          <a:p>
            <a:r>
              <a:rPr sz="1300" b="0"/>
              <a:t>500 simulated differences under the null exceeded the observed +5.01pp</a:t>
            </a:r>
          </a:p>
          <a:p>
            <a:r>
              <a:rPr sz="1300" b="1">
                <a:solidFill>
                  <a:srgbClr val="006633"/>
                </a:solidFill>
              </a:rPr>
              <a:t>difference. The company should implement the new treatment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