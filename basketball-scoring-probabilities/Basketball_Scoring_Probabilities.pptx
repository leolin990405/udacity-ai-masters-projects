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dd687b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dd687b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Calculation of Basketball Scoring Probabilities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Leo Lin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46464"/>
                </a:solidFill>
              </a:rPr>
              <a:t>Results of basketball scoring calculations for Steph Curry (2022-2023 Season)</a:t>
            </a:r>
            <a:endParaRPr sz="3000">
              <a:solidFill>
                <a:srgbClr val="2D3D4A"/>
              </a:solidFill>
            </a:endParaRP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1. Overall Shooting Statistics</a:t>
            </a:r>
          </a:p>
          <a:p>
            <a:r>
              <a:rPr sz="1200" b="0">
                <a:solidFill>
                  <a:srgbClr val="646464"/>
                </a:solidFill>
              </a:rPr>
              <a:t>    P(Make), P(Miss), proportion of 2pt vs 3pt shots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2. Binomial Probabilities</a:t>
            </a:r>
          </a:p>
          <a:p>
            <a:r>
              <a:rPr sz="1200" b="0">
                <a:solidFill>
                  <a:srgbClr val="646464"/>
                </a:solidFill>
              </a:rPr>
              <a:t>    P(3 makes in 4 shots), P(4 of 5 are 3-pointers)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3. Conditional Probabilities — Future</a:t>
            </a:r>
          </a:p>
          <a:p>
            <a:r>
              <a:rPr sz="1200" b="0">
                <a:solidFill>
                  <a:srgbClr val="646464"/>
                </a:solidFill>
              </a:rPr>
              <a:t>    P(Make|3pt), P(Lead|3pt), P(Make|2pt), P(Lead|2pt) via Bayes' Theorem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4. Conditional Probabilities — Retrospective</a:t>
            </a:r>
          </a:p>
          <a:p>
            <a:r>
              <a:rPr sz="1200" b="0">
                <a:solidFill>
                  <a:srgbClr val="646464"/>
                </a:solidFill>
              </a:rPr>
              <a:t>    P(3pt|Made), P(2pt|Made) via Bayes' Theorem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Overall Shooting Statistics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05050"/>
                </a:solidFill>
              </a:rPr>
              <a:t>Dataset: 1,434 shots by Steph Curry (2022-2023 NBA Season)</a:t>
            </a:r>
            <a:endParaRPr sz="3000">
              <a:solidFill>
                <a:srgbClr val="2D3D4A"/>
              </a:solidFill>
            </a:endParaRP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Shot Results:</a:t>
            </a:r>
          </a:p>
          <a:p>
            <a:r>
              <a:rPr sz="1400" b="0"/>
              <a:t>  • P(Make) = 703 / 1,434 = 0.4902  (49.02%)</a:t>
            </a:r>
          </a:p>
          <a:p>
            <a:r>
              <a:rPr sz="1400" b="0"/>
              <a:t>  • P(Miss) = 731 / 1,434 = 0.5098  (50.98%)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Shot Type Distribution:</a:t>
            </a:r>
          </a:p>
          <a:p>
            <a:r>
              <a:rPr sz="1400" b="0"/>
              <a:t>  • P(Three-pointer) = 786 / 1,434 = 0.5481  (54.81%)</a:t>
            </a:r>
          </a:p>
          <a:p>
            <a:r>
              <a:rPr sz="1400" b="0"/>
              <a:t>  • P(Two-pointer) = 648 / 1,434 = 0.4519  (45.19%)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6633"/>
                </a:solidFill>
              </a:rPr>
              <a:t>Key Insight:</a:t>
            </a:r>
          </a:p>
          <a:p>
            <a:r>
              <a:rPr sz="1200" b="0">
                <a:solidFill>
                  <a:srgbClr val="505050"/>
                </a:solidFill>
              </a:rPr>
              <a:t>  Curry attempts more 3-pointers than 2-pointers, but his overall</a:t>
            </a:r>
          </a:p>
          <a:p>
            <a:r>
              <a:rPr sz="1200" b="0">
                <a:solidFill>
                  <a:srgbClr val="505050"/>
                </a:solidFill>
              </a:rPr>
              <a:t>  shooting percentage is just under 50%.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3366"/>
                </a:solidFill>
              </a:rPr>
              <a:t>Binomial Probabilities</a:t>
            </a:r>
            <a:endParaRPr sz="64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3366"/>
                </a:solidFill>
              </a:rPr>
              <a:t>Q1: P(Steph makes 3 of the next 4 shots)</a:t>
            </a:r>
            <a:endParaRPr sz="3000">
              <a:solidFill>
                <a:srgbClr val="2D3D4A"/>
              </a:solidFill>
            </a:endParaRPr>
          </a:p>
          <a:p>
            <a:r>
              <a:rPr sz="1300" b="0"/>
              <a:t>  p = P(Make) = 0.4902,  n = 4,  k = 3</a:t>
            </a:r>
          </a:p>
          <a:p>
            <a:r>
              <a:rPr sz="1300" b="0"/>
              <a:t>  P(X=3) = C(4,3) × 0.4902³ × 0.5098¹</a:t>
            </a:r>
          </a:p>
          <a:p>
            <a:r>
              <a:rPr sz="1400" b="1">
                <a:solidFill>
                  <a:srgbClr val="006633"/>
                </a:solidFill>
              </a:rPr>
              <a:t>  P(X=3) = 4 × 0.1178 × 0.5098 = 0.2402  (24.02%)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Q2: P(4 of the next 5 shots are three-pointers)</a:t>
            </a:r>
          </a:p>
          <a:p>
            <a:r>
              <a:rPr sz="1300" b="0"/>
              <a:t>  p = P(3pt) = 0.5481,  n = 5,  k = 4</a:t>
            </a:r>
          </a:p>
          <a:p>
            <a:r>
              <a:rPr sz="1300" b="0"/>
              <a:t>  P(X=4) = C(5,4) × 0.5481⁴ × 0.4519¹</a:t>
            </a:r>
          </a:p>
          <a:p>
            <a:r>
              <a:rPr sz="1400" b="1">
                <a:solidFill>
                  <a:srgbClr val="006633"/>
                </a:solidFill>
              </a:rPr>
              <a:t>  P(X=4) = 5 × 0.0902 × 0.4519 = 0.2039  (20.39%)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990000"/>
                </a:solidFill>
              </a:rPr>
              <a:t>Assumptions:</a:t>
            </a:r>
          </a:p>
          <a:p>
            <a:r>
              <a:rPr sz="1200" b="0">
                <a:solidFill>
                  <a:srgbClr val="505050"/>
                </a:solidFill>
              </a:rPr>
              <a:t>  1. Each shot is an independent event (outcome of one shot does</a:t>
            </a:r>
          </a:p>
          <a:p>
            <a:r>
              <a:rPr sz="1200" b="0">
                <a:solidFill>
                  <a:srgbClr val="505050"/>
                </a:solidFill>
              </a:rPr>
              <a:t>     not affect the next)</a:t>
            </a:r>
          </a:p>
          <a:p>
            <a:r>
              <a:rPr sz="1200" b="0">
                <a:solidFill>
                  <a:srgbClr val="505050"/>
                </a:solidFill>
              </a:rPr>
              <a:t>  2. The probability of success remains constant across shots</a:t>
            </a:r>
          </a:p>
          <a:p>
            <a:r>
              <a:rPr sz="1200" b="0">
                <a:solidFill>
                  <a:srgbClr val="505050"/>
                </a:solidFill>
              </a:rPr>
              <a:t>  3. Each shot has only two outcomes: make or miss</a:t>
            </a:r>
          </a:p>
          <a:p>
            <a:r>
              <a:rPr sz="1100" b="0">
                <a:solidFill>
                  <a:srgbClr val="828282"/>
                </a:solidFill>
              </a:rPr>
              <a:t>  Note: In reality, these assumptions may be violated — fatigue,</a:t>
            </a:r>
          </a:p>
          <a:p>
            <a:r>
              <a:rPr sz="1100" b="0">
                <a:solidFill>
                  <a:srgbClr val="828282"/>
                </a:solidFill>
              </a:rPr>
              <a:t>  defense, and momentum can affect shooting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Conditional Probabilities - Future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3366"/>
                </a:solidFill>
              </a:rPr>
              <a:t>If the next shot is a THREE-POINTER:</a:t>
            </a:r>
            <a:endParaRPr sz="3000">
              <a:solidFill>
                <a:srgbClr val="2D3D4A"/>
              </a:solidFill>
            </a:endParaRPr>
          </a:p>
          <a:p>
            <a:r>
              <a:rPr sz="600" b="0"/>
              <a:t/>
            </a:r>
          </a:p>
          <a:p>
            <a:r>
              <a:rPr sz="1300" b="1"/>
              <a:t>  P(Make | 3pt) via Bayes' Theorem:</a:t>
            </a:r>
          </a:p>
          <a:p>
            <a:r>
              <a:rPr sz="1200" b="0">
                <a:solidFill>
                  <a:srgbClr val="505050"/>
                </a:solidFill>
              </a:rPr>
              <a:t>    = P(3pt|Make) × P(Make) / P(3pt)</a:t>
            </a:r>
          </a:p>
          <a:p>
            <a:r>
              <a:rPr sz="1200" b="0">
                <a:solidFill>
                  <a:srgbClr val="505050"/>
                </a:solidFill>
              </a:rPr>
              <a:t>    = (329/703) × (703/1434) / (786/1434)</a:t>
            </a:r>
          </a:p>
          <a:p>
            <a:r>
              <a:rPr sz="1300" b="1">
                <a:solidFill>
                  <a:srgbClr val="006633"/>
                </a:solidFill>
              </a:rPr>
              <a:t>    = 0.4680 × 0.4902 / 0.5481 = 0.4186  (41.86%)</a:t>
            </a:r>
          </a:p>
          <a:p>
            <a:r>
              <a:rPr sz="600" b="0"/>
              <a:t/>
            </a:r>
          </a:p>
          <a:p>
            <a:r>
              <a:rPr sz="1300" b="1"/>
              <a:t>  P(Lead | 3pt) via Bayes' Theorem:</a:t>
            </a:r>
          </a:p>
          <a:p>
            <a:r>
              <a:rPr sz="1200" b="0">
                <a:solidFill>
                  <a:srgbClr val="505050"/>
                </a:solidFill>
              </a:rPr>
              <a:t>    = P(3pt|Lead) × P(Lead) / P(3pt)</a:t>
            </a:r>
          </a:p>
          <a:p>
            <a:r>
              <a:rPr sz="1200" b="0">
                <a:solidFill>
                  <a:srgbClr val="505050"/>
                </a:solidFill>
              </a:rPr>
              <a:t>    = (388/722) × (722/1434) / (786/1434)</a:t>
            </a:r>
          </a:p>
          <a:p>
            <a:r>
              <a:rPr sz="1300" b="1">
                <a:solidFill>
                  <a:srgbClr val="006633"/>
                </a:solidFill>
              </a:rPr>
              <a:t>    = 0.5374 × 0.5035 / 0.5481 = 0.4936  (49.36%)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If the next shot is a TWO-POINTER:</a:t>
            </a:r>
          </a:p>
          <a:p>
            <a:r>
              <a:rPr sz="600" b="0"/>
              <a:t/>
            </a:r>
          </a:p>
          <a:p>
            <a:r>
              <a:rPr sz="1300" b="1"/>
              <a:t>  P(Make | 2pt) = P(2pt|Make) × P(Make) / P(2pt)</a:t>
            </a:r>
          </a:p>
          <a:p>
            <a:r>
              <a:rPr sz="1300" b="1">
                <a:solidFill>
                  <a:srgbClr val="006633"/>
                </a:solidFill>
              </a:rPr>
              <a:t>    = 0.5320 × 0.4902 / 0.4519 = 0.5772  (57.72%)</a:t>
            </a:r>
          </a:p>
          <a:p>
            <a:r>
              <a:rPr sz="600" b="0"/>
              <a:t/>
            </a:r>
          </a:p>
          <a:p>
            <a:r>
              <a:rPr sz="1300" b="1"/>
              <a:t>  P(Lead | 2pt) = P(2pt|Lead) × P(Lead) / P(2pt)</a:t>
            </a:r>
          </a:p>
          <a:p>
            <a:r>
              <a:rPr sz="1300" b="1">
                <a:solidFill>
                  <a:srgbClr val="006633"/>
                </a:solidFill>
              </a:rPr>
              <a:t>    = 0.4626 × 0.5035 / 0.4519 = 0.5154  (51.54%)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Conditional Probabilities - Retrospective</a:t>
            </a:r>
            <a:endParaRPr sz="64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3366"/>
                </a:solidFill>
              </a:rPr>
              <a:t>If Steph just MADE a shot, what type was it?</a:t>
            </a:r>
            <a:endParaRPr sz="3000">
              <a:solidFill>
                <a:srgbClr val="2D3D4A"/>
              </a:solidFill>
            </a:endParaRPr>
          </a:p>
          <a:p>
            <a:r>
              <a:rPr sz="800" b="0"/>
              <a:t/>
            </a:r>
          </a:p>
          <a:p>
            <a:r>
              <a:rPr sz="1400" b="1"/>
              <a:t>P(Three-pointer | Made) via Bayes' Theorem:</a:t>
            </a:r>
          </a:p>
          <a:p>
            <a:r>
              <a:rPr sz="1200" b="0">
                <a:solidFill>
                  <a:srgbClr val="505050"/>
                </a:solidFill>
              </a:rPr>
              <a:t>  Step 1: Define notation</a:t>
            </a:r>
          </a:p>
          <a:p>
            <a:r>
              <a:rPr sz="1200" b="0">
                <a:solidFill>
                  <a:srgbClr val="505050"/>
                </a:solidFill>
              </a:rPr>
              <a:t>    P(Made|3pt) = 329/786 = 0.4186</a:t>
            </a:r>
          </a:p>
          <a:p>
            <a:r>
              <a:rPr sz="1200" b="0">
                <a:solidFill>
                  <a:srgbClr val="505050"/>
                </a:solidFill>
              </a:rPr>
              <a:t>    P(3pt) = 786/1434 = 0.5481</a:t>
            </a:r>
          </a:p>
          <a:p>
            <a:r>
              <a:rPr sz="1200" b="0">
                <a:solidFill>
                  <a:srgbClr val="505050"/>
                </a:solidFill>
              </a:rPr>
              <a:t>    P(Made) = 703/1434 = 0.4902</a:t>
            </a:r>
          </a:p>
          <a:p>
            <a:r>
              <a:rPr sz="1200" b="0">
                <a:solidFill>
                  <a:srgbClr val="505050"/>
                </a:solidFill>
              </a:rPr>
              <a:t>  Step 2: Apply Bayes' Theorem</a:t>
            </a:r>
          </a:p>
          <a:p>
            <a:r>
              <a:rPr sz="1200" b="0">
                <a:solidFill>
                  <a:srgbClr val="505050"/>
                </a:solidFill>
              </a:rPr>
              <a:t>    P(3pt|Made) = P(Made|3pt) × P(3pt) / P(Made)</a:t>
            </a:r>
          </a:p>
          <a:p>
            <a:r>
              <a:rPr sz="1300" b="1">
                <a:solidFill>
                  <a:srgbClr val="006633"/>
                </a:solidFill>
              </a:rPr>
              <a:t>    = 0.4186 × 0.5481 / 0.4902 = 0.4680  (46.80%)</a:t>
            </a:r>
          </a:p>
          <a:p>
            <a:r>
              <a:rPr sz="1100" b="0">
                <a:solidFill>
                  <a:srgbClr val="828282"/>
                </a:solidFill>
              </a:rPr>
              <a:t>  Verification: 329 / 703 = 0.4680 ✓</a:t>
            </a:r>
          </a:p>
          <a:p>
            <a:r>
              <a:rPr sz="800" b="0"/>
              <a:t/>
            </a:r>
          </a:p>
          <a:p>
            <a:r>
              <a:rPr sz="1400" b="1"/>
              <a:t>P(Two-pointer | Made) via Bayes' Theorem:</a:t>
            </a:r>
          </a:p>
          <a:p>
            <a:r>
              <a:rPr sz="1200" b="0">
                <a:solidFill>
                  <a:srgbClr val="505050"/>
                </a:solidFill>
              </a:rPr>
              <a:t>    P(2pt|Made) = P(Made|2pt) × P(2pt) / P(Made)</a:t>
            </a:r>
          </a:p>
          <a:p>
            <a:r>
              <a:rPr sz="1300" b="1">
                <a:solidFill>
                  <a:srgbClr val="006633"/>
                </a:solidFill>
              </a:rPr>
              <a:t>    = 0.5772 × 0.4519 / 0.4902 = 0.5320  (53.20%)</a:t>
            </a:r>
          </a:p>
          <a:p>
            <a:r>
              <a:rPr sz="1100" b="0">
                <a:solidFill>
                  <a:srgbClr val="828282"/>
                </a:solidFill>
              </a:rPr>
              <a:t>  Verification: 374 / 703 = 0.5320 ✓</a:t>
            </a:r>
          </a:p>
          <a:p>
            <a:r>
              <a:rPr sz="800" b="0"/>
              <a:t/>
            </a:r>
          </a:p>
          <a:p>
            <a:r>
              <a:rPr sz="1200" b="1">
                <a:solidFill>
                  <a:srgbClr val="006633"/>
                </a:solidFill>
              </a:rPr>
              <a:t>Check: P(3pt|Made) + P(2pt|Made) = 0.4680 + 0.5320 = 1.0000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