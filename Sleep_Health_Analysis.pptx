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Roboto Mono Light"/>
      <p:regular r:id="rId13"/>
      <p:bold r:id="rId14"/>
      <p:italic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RobotoMonoLight-regular.fntdata"/><Relationship Id="rId14" Type="http://schemas.openxmlformats.org/officeDocument/2006/relationships/font" Target="fonts/RobotoMonoLight-bold.fntdata"/><Relationship Id="rId15" Type="http://schemas.openxmlformats.org/officeDocument/2006/relationships/font" Target="fonts/RobotoMonoLight-italic.fntdata"/><Relationship Id="rId16" Type="http://schemas.openxmlformats.org/officeDocument/2006/relationships/font" Target="fonts/RobotoMonoLight-boldItalic.fntdata"/><Relationship Id="rId17" Type="http://schemas.openxmlformats.org/officeDocument/2006/relationships/font" Target="fonts/OpenSansLight-regular.fntdata"/><Relationship Id="rId18" Type="http://schemas.openxmlformats.org/officeDocument/2006/relationships/font" Target="fonts/OpenSansLight-bold.fntdata"/><Relationship Id="rId19" Type="http://schemas.openxmlformats.org/officeDocument/2006/relationships/font" Target="fonts/OpenSansLight-italic.fntdata"/><Relationship Id="rId20" Type="http://schemas.openxmlformats.org/officeDocument/2006/relationships/font" Target="fonts/OpenSansLight-boldItalic.fntdata"/><Relationship Id="rId21" Type="http://schemas.openxmlformats.org/officeDocument/2006/relationships/font" Target="fonts/OpenSans-regular.fntdata"/><Relationship Id="rId22" Type="http://schemas.openxmlformats.org/officeDocument/2006/relationships/font" Target="fonts/OpenSans-bold.fntdata"/><Relationship Id="rId23" Type="http://schemas.openxmlformats.org/officeDocument/2006/relationships/font" Target="fonts/OpenSans-italic.fntdata"/><Relationship Id="rId24" Type="http://schemas.openxmlformats.org/officeDocument/2006/relationships/font" Target="fonts/Open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5b2e72063_0_2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05b2e72063_0_2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3dd687b2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3dd687b2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3dd687b2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13dd687b2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3dd687b2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3dd687b2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3dd687b2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3dd687b2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3dd687b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3dd687b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a Lesson Title ">
  <p:cSld name="TITLE_1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-3409" l="0" r="0" t="3419"/>
          <a:stretch/>
        </p:blipFill>
        <p:spPr>
          <a:xfrm>
            <a:off x="1239650" y="1254250"/>
            <a:ext cx="2877300" cy="54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Open Sans Light"/>
              <a:buNone/>
              <a:defRPr sz="9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Open Sans Light"/>
              <a:buNone/>
              <a:defRPr sz="10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1225200" y="5937550"/>
            <a:ext cx="10070400" cy="1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232067" y="1034380"/>
            <a:ext cx="3497101" cy="986219"/>
            <a:chOff x="989538" y="1051025"/>
            <a:chExt cx="3377536" cy="952500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2">
              <a:alphaModFix/>
            </a:blip>
            <a:srcRect b="-3409" l="0" r="0" t="3419"/>
            <a:stretch/>
          </p:blipFill>
          <p:spPr>
            <a:xfrm>
              <a:off x="1239650" y="1254250"/>
              <a:ext cx="2877300" cy="546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995600" y="1051025"/>
              <a:ext cx="3365400" cy="952500"/>
            </a:xfrm>
            <a:prstGeom prst="rect">
              <a:avLst/>
            </a:prstGeom>
            <a:solidFill>
              <a:srgbClr val="171A53"/>
            </a:solidFill>
            <a:ln cap="flat" cmpd="sng" w="9525">
              <a:solidFill>
                <a:srgbClr val="171A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800">
                <a:solidFill>
                  <a:srgbClr val="171A53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89538" y="1058076"/>
              <a:ext cx="3377536" cy="938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2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b Lesson Title (Designer or Producer Only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type="title"/>
          </p:nvPr>
        </p:nvSpPr>
        <p:spPr>
          <a:xfrm>
            <a:off x="1225200" y="3735300"/>
            <a:ext cx="15837600" cy="281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600"/>
              <a:buFont typeface="Open Sans Light"/>
              <a:buNone/>
              <a:defRPr sz="76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pen Sans Light"/>
              <a:buNone/>
              <a:defRPr sz="72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a Full Bullet">
  <p:cSld name="TITLE_AND_BODY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85825" y="1828800"/>
            <a:ext cx="169164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936">
          <p15:clr>
            <a:schemeClr val="accent1"/>
          </p15:clr>
        </p15:guide>
        <p15:guide id="6" orient="horz" pos="5328">
          <p15:clr>
            <a:schemeClr val="accent1"/>
          </p15:clr>
        </p15:guide>
        <p15:guide id="7" orient="horz" pos="1152">
          <p15:clr>
            <a:schemeClr val="accent1"/>
          </p15:clr>
        </p15:guide>
        <p15:guide id="8" pos="5760">
          <p15:clr>
            <a:srgbClr val="E46962"/>
          </p15:clr>
        </p15:guide>
        <p15:guide id="9" orient="horz" pos="31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g Full Graphic">
  <p:cSld name="TITLE_ONLY_1_1_1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300" y="0"/>
            <a:ext cx="18288000" cy="113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>
            <p:ph type="title"/>
          </p:nvPr>
        </p:nvSpPr>
        <p:spPr>
          <a:xfrm>
            <a:off x="685800" y="0"/>
            <a:ext cx="16916400" cy="11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sz="4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7750" y="9434275"/>
            <a:ext cx="2619803" cy="6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5760">
          <p15:clr>
            <a:schemeClr val="accent1"/>
          </p15:clr>
        </p15:guide>
        <p15:guide id="4" orient="horz" pos="717">
          <p15:clr>
            <a:schemeClr val="accent1"/>
          </p15:clr>
        </p15:guide>
        <p15:guide id="5" pos="5760">
          <p15:clr>
            <a:srgbClr val="E46962"/>
          </p15:clr>
        </p15:guide>
        <p15:guide id="6" orient="horz" pos="324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b Third Card">
  <p:cSld name="TITLE_AND_BODY_1_1_1_3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11623800" y="684300"/>
            <a:ext cx="5978400" cy="7774200"/>
          </a:xfrm>
          <a:prstGeom prst="round1Rect">
            <a:avLst>
              <a:gd fmla="val 28421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 txBox="1"/>
          <p:nvPr/>
        </p:nvSpPr>
        <p:spPr>
          <a:xfrm>
            <a:off x="12058350" y="1523388"/>
            <a:ext cx="3915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t/>
            </a:r>
            <a:endParaRPr b="1" sz="26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12058350" y="2629500"/>
            <a:ext cx="5109600" cy="53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12058350" y="1120500"/>
            <a:ext cx="4868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685800" y="307975"/>
            <a:ext cx="102522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760">
          <p15:clr>
            <a:schemeClr val="accent1"/>
          </p15:clr>
        </p15:guide>
        <p15:guide id="5" orient="horz" pos="5328">
          <p15:clr>
            <a:schemeClr val="accent1"/>
          </p15:clr>
        </p15:guide>
        <p15:guide id="6" pos="10814">
          <p15:clr>
            <a:schemeClr val="accent1"/>
          </p15:clr>
        </p15:guide>
        <p15:guide id="7" pos="7596">
          <p15:clr>
            <a:schemeClr val="accent1"/>
          </p15:clr>
        </p15:guide>
        <p15:guide id="8" orient="horz" pos="5054">
          <p15:clr>
            <a:schemeClr val="accent2"/>
          </p15:clr>
        </p15:guide>
        <p15:guide id="9" pos="6890">
          <p15:clr>
            <a:schemeClr val="accent1"/>
          </p15:clr>
        </p15:guide>
        <p15:guide id="10" pos="7322">
          <p15:clr>
            <a:schemeClr val="accent1"/>
          </p15:clr>
        </p15:guide>
        <p15:guide id="11" orient="horz" pos="1152">
          <p15:clr>
            <a:schemeClr val="accent2"/>
          </p15:clr>
        </p15:guide>
        <p15:guide id="12" orient="horz" pos="939">
          <p15:clr>
            <a:schemeClr val="accent1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c Half Card">
  <p:cSld name="TITLE_AND_BODY_1_1_1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9829800" y="684300"/>
            <a:ext cx="77724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0264500" y="2194800"/>
            <a:ext cx="6903000" cy="58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2" type="subTitle"/>
          </p:nvPr>
        </p:nvSpPr>
        <p:spPr>
          <a:xfrm>
            <a:off x="10264500" y="1120500"/>
            <a:ext cx="6662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685800" y="307975"/>
            <a:ext cx="95790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685825" y="1828800"/>
            <a:ext cx="102522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432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10814">
          <p15:clr>
            <a:schemeClr val="accent1"/>
          </p15:clr>
        </p15:guide>
        <p15:guide id="6" pos="6466">
          <p15:clr>
            <a:schemeClr val="accent1"/>
          </p15:clr>
        </p15:guide>
        <p15:guide id="7" orient="horz" pos="5054">
          <p15:clr>
            <a:schemeClr val="accent2"/>
          </p15:clr>
        </p15:guide>
        <p15:guide id="8" pos="5760">
          <p15:clr>
            <a:schemeClr val="accent1"/>
          </p15:clr>
        </p15:guide>
        <p15:guide id="9" pos="6192">
          <p15:clr>
            <a:schemeClr val="accent1"/>
          </p15:clr>
        </p15:guide>
        <p15:guide id="10" orient="horz" pos="1152">
          <p15:clr>
            <a:schemeClr val="accent2"/>
          </p15:clr>
        </p15:guide>
        <p15:guide id="11" orient="horz" pos="939">
          <p15:clr>
            <a:schemeClr val="accent1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e Dual Card">
  <p:cSld name="CUSTOM_1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9487100" y="684300"/>
            <a:ext cx="8115000" cy="77742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 flipH="1" rot="-5400000">
            <a:off x="846450" y="495600"/>
            <a:ext cx="7786200" cy="81378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11205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2" type="subTitle"/>
          </p:nvPr>
        </p:nvSpPr>
        <p:spPr>
          <a:xfrm>
            <a:off x="11205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9921800" y="1935300"/>
            <a:ext cx="7245600" cy="60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idx="4" type="subTitle"/>
          </p:nvPr>
        </p:nvSpPr>
        <p:spPr>
          <a:xfrm>
            <a:off x="9921800" y="1007100"/>
            <a:ext cx="7245600" cy="6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F0000"/>
          </p15:clr>
        </p15:guide>
        <p15:guide id="2" pos="5760">
          <p15:clr>
            <a:srgbClr val="FF0000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5553">
          <p15:clr>
            <a:schemeClr val="accent1"/>
          </p15:clr>
        </p15:guide>
        <p15:guide id="6" pos="597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pos="706">
          <p15:clr>
            <a:schemeClr val="accent1"/>
          </p15:clr>
        </p15:guide>
        <p15:guide id="10" pos="5275">
          <p15:clr>
            <a:schemeClr val="accent1"/>
          </p15:clr>
        </p15:guide>
        <p15:guide id="11" pos="6250">
          <p15:clr>
            <a:schemeClr val="accent1"/>
          </p15:clr>
        </p15:guide>
        <p15:guide id="12" pos="10814">
          <p15:clr>
            <a:schemeClr val="accent1"/>
          </p15:clr>
        </p15:guide>
        <p15:guide id="13" orient="horz" pos="1219">
          <p15:clr>
            <a:schemeClr val="accent2"/>
          </p15:clr>
        </p15:guide>
        <p15:guide id="14" orient="horz" pos="5054">
          <p15:clr>
            <a:schemeClr val="accent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f Triple Card ">
  <p:cSld name="CUSTOM_1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/>
          <p:nvPr/>
        </p:nvSpPr>
        <p:spPr>
          <a:xfrm>
            <a:off x="-250" y="0"/>
            <a:ext cx="18288000" cy="9144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6547175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/>
          <p:cNvSpPr/>
          <p:nvPr/>
        </p:nvSpPr>
        <p:spPr>
          <a:xfrm>
            <a:off x="68580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>
            <a:off x="12408550" y="1935900"/>
            <a:ext cx="5193600" cy="6522600"/>
          </a:xfrm>
          <a:prstGeom prst="round1Rect">
            <a:avLst>
              <a:gd fmla="val 22136" name="adj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>
            <p:ph idx="1" type="body"/>
          </p:nvPr>
        </p:nvSpPr>
        <p:spPr>
          <a:xfrm>
            <a:off x="112050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9"/>
          <p:cNvSpPr txBox="1"/>
          <p:nvPr>
            <p:ph idx="2" type="subTitle"/>
          </p:nvPr>
        </p:nvSpPr>
        <p:spPr>
          <a:xfrm>
            <a:off x="113475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78" name="Google Shape;78;p9"/>
          <p:cNvSpPr txBox="1"/>
          <p:nvPr>
            <p:ph idx="3" type="body"/>
          </p:nvPr>
        </p:nvSpPr>
        <p:spPr>
          <a:xfrm>
            <a:off x="6981875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4" type="subTitle"/>
          </p:nvPr>
        </p:nvSpPr>
        <p:spPr>
          <a:xfrm>
            <a:off x="6996125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0" name="Google Shape;80;p9"/>
          <p:cNvSpPr txBox="1"/>
          <p:nvPr>
            <p:ph idx="5" type="body"/>
          </p:nvPr>
        </p:nvSpPr>
        <p:spPr>
          <a:xfrm>
            <a:off x="12843250" y="3278700"/>
            <a:ext cx="4324200" cy="448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Char char="●"/>
              <a:defRPr>
                <a:solidFill>
                  <a:schemeClr val="dk1"/>
                </a:solidFill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Char char="○"/>
              <a:defRPr>
                <a:solidFill>
                  <a:schemeClr val="dk1"/>
                </a:solidFill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6" type="subTitle"/>
          </p:nvPr>
        </p:nvSpPr>
        <p:spPr>
          <a:xfrm>
            <a:off x="12857500" y="2271600"/>
            <a:ext cx="42954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b="1" sz="2600"/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600"/>
              <a:buFont typeface="Open Sans Light"/>
              <a:buNone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355">
          <p15:clr>
            <a:srgbClr val="FF0000"/>
          </p15:clr>
        </p15:guide>
        <p15:guide id="2" pos="4124">
          <p15:clr>
            <a:schemeClr val="accent1"/>
          </p15:clr>
        </p15:guide>
        <p15:guide id="3" pos="423">
          <p15:clr>
            <a:schemeClr val="accent1"/>
          </p15:clr>
        </p15:guide>
        <p15:guide id="4" orient="horz" pos="423">
          <p15:clr>
            <a:schemeClr val="accent1"/>
          </p15:clr>
        </p15:guide>
        <p15:guide id="5" pos="3703">
          <p15:clr>
            <a:schemeClr val="accent1"/>
          </p15:clr>
        </p15:guide>
        <p15:guide id="6" pos="7396">
          <p15:clr>
            <a:schemeClr val="accent1"/>
          </p15:clr>
        </p15:guide>
        <p15:guide id="7" orient="horz" pos="5328">
          <p15:clr>
            <a:schemeClr val="accent1"/>
          </p15:clr>
        </p15:guide>
        <p15:guide id="8" pos="11088">
          <p15:clr>
            <a:schemeClr val="accent1"/>
          </p15:clr>
        </p15:guide>
        <p15:guide id="9" orient="horz" pos="1219">
          <p15:clr>
            <a:schemeClr val="accent1"/>
          </p15:clr>
        </p15:guide>
        <p15:guide id="10" pos="7816">
          <p15:clr>
            <a:schemeClr val="accent1"/>
          </p15:clr>
        </p15:guide>
        <p15:guide id="11" orient="horz" pos="939">
          <p15:clr>
            <a:schemeClr val="accent1"/>
          </p15:clr>
        </p15:guide>
        <p15:guide id="12" pos="2068">
          <p15:clr>
            <a:srgbClr val="E46962"/>
          </p15:clr>
        </p15:guide>
        <p15:guide id="13" pos="5760">
          <p15:clr>
            <a:srgbClr val="E46962"/>
          </p15:clr>
        </p15:guide>
        <p15:guide id="14" pos="9452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ode">
  <p:cSld name="TITLE_AND_BODY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6" name="Google Shape;8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0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685800" y="1554750"/>
            <a:ext cx="169164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orient="horz" pos="3154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Dual Code">
  <p:cSld name="TITLE_AND_BODY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9144000"/>
            <a:ext cx="182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/>
          <p:nvPr/>
        </p:nvSpPr>
        <p:spPr>
          <a:xfrm>
            <a:off x="576900" y="9439925"/>
            <a:ext cx="2610600" cy="620100"/>
          </a:xfrm>
          <a:prstGeom prst="rect">
            <a:avLst/>
          </a:prstGeom>
          <a:solidFill>
            <a:srgbClr val="1425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60" y="9434283"/>
            <a:ext cx="2619805" cy="6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/>
          <p:nvPr/>
        </p:nvSpPr>
        <p:spPr>
          <a:xfrm>
            <a:off x="-250" y="-750"/>
            <a:ext cx="18288000" cy="9144000"/>
          </a:xfrm>
          <a:prstGeom prst="rect">
            <a:avLst/>
          </a:prstGeom>
          <a:solidFill>
            <a:srgbClr val="F0F0F0"/>
          </a:solidFill>
          <a:ln>
            <a:noFill/>
          </a:ln>
          <a:effectLst>
            <a:outerShdw blurRad="714375" rotWithShape="0" algn="bl" dir="5400000" dist="238125">
              <a:srgbClr val="000000">
                <a:alpha val="25000"/>
              </a:srgbClr>
            </a:outerShdw>
          </a:effectLst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 txBox="1"/>
          <p:nvPr/>
        </p:nvSpPr>
        <p:spPr>
          <a:xfrm>
            <a:off x="685800" y="434400"/>
            <a:ext cx="1691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" sz="4800">
                <a:solidFill>
                  <a:srgbClr val="0B0B0B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Title Placeholder</a:t>
            </a:r>
            <a:endParaRPr sz="4800">
              <a:solidFill>
                <a:srgbClr val="0B0B0B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8580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9361350" y="1554750"/>
            <a:ext cx="8241000" cy="690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●"/>
              <a:defRPr sz="3000"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1pPr>
            <a:lvl2pPr indent="-419100" lvl="1" marL="914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2pPr>
            <a:lvl3pPr indent="-381000" lvl="2" marL="1371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3pPr>
            <a:lvl4pPr indent="-381000" lvl="3" marL="18288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4pPr>
            <a:lvl5pPr indent="-381000" lvl="4" marL="22860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5pPr>
            <a:lvl6pPr indent="-381000" lvl="5" marL="27432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6pPr>
            <a:lvl7pPr indent="-381000" lvl="6" marL="32004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●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7pPr>
            <a:lvl8pPr indent="-381000" lvl="7" marL="3657600" rtl="0"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boto Mono Light"/>
              <a:buChar char="○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8pPr>
            <a:lvl9pPr indent="-381000" lvl="8" marL="4114800" rtl="0">
              <a:spcBef>
                <a:spcPts val="2000"/>
              </a:spcBef>
              <a:spcAft>
                <a:spcPts val="2000"/>
              </a:spcAft>
              <a:buClr>
                <a:schemeClr val="accent1"/>
              </a:buClr>
              <a:buSzPts val="2400"/>
              <a:buFont typeface="Roboto Mono Light"/>
              <a:buChar char="■"/>
              <a:defRPr>
                <a:solidFill>
                  <a:schemeClr val="dk1"/>
                </a:solidFill>
                <a:latin typeface="Roboto Mono Light"/>
                <a:ea typeface="Roboto Mono Light"/>
                <a:cs typeface="Roboto Mono Light"/>
                <a:sym typeface="Roboto Mono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chemeClr val="accent1"/>
          </p15:clr>
        </p15:guide>
        <p15:guide id="2" pos="11088">
          <p15:clr>
            <a:schemeClr val="accent1"/>
          </p15:clr>
        </p15:guide>
        <p15:guide id="3" orient="horz" pos="979">
          <p15:clr>
            <a:schemeClr val="accent1"/>
          </p15:clr>
        </p15:guide>
        <p15:guide id="4" orient="horz" pos="5328">
          <p15:clr>
            <a:schemeClr val="accent1"/>
          </p15:clr>
        </p15:guide>
        <p15:guide id="5" pos="5760">
          <p15:clr>
            <a:srgbClr val="FF0000"/>
          </p15:clr>
        </p15:guide>
        <p15:guide id="6" orient="horz" pos="706">
          <p15:clr>
            <a:schemeClr val="accent1"/>
          </p15:clr>
        </p15:guide>
        <p15:guide id="7" orient="horz" pos="274">
          <p15:clr>
            <a:schemeClr val="accent1"/>
          </p15:clr>
        </p15:guide>
        <p15:guide id="8" pos="5623">
          <p15:clr>
            <a:schemeClr val="accent1"/>
          </p15:clr>
        </p15:guide>
        <p15:guide id="9" pos="5897">
          <p15:clr>
            <a:schemeClr val="accent1"/>
          </p15:clr>
        </p15:guide>
        <p15:guide id="10" orient="horz" pos="324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Quote Full Card">
  <p:cSld name="CUSTOM_1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4" y="0"/>
            <a:ext cx="18288000" cy="102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2"/>
          <p:cNvSpPr/>
          <p:nvPr/>
        </p:nvSpPr>
        <p:spPr>
          <a:xfrm flipH="1">
            <a:off x="1285650" y="1009650"/>
            <a:ext cx="15717000" cy="8268000"/>
          </a:xfrm>
          <a:prstGeom prst="round2DiagRect">
            <a:avLst>
              <a:gd fmla="val 20143" name="adj1"/>
              <a:gd fmla="val 0" name="adj2"/>
            </a:avLst>
          </a:prstGeom>
          <a:solidFill>
            <a:srgbClr val="F0F0F0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110650" y="1908000"/>
            <a:ext cx="14067000" cy="647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533400" lvl="0" marL="457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533400" lvl="1" marL="914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533400" lvl="2" marL="1371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533400" lvl="3" marL="1828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533400" lvl="4" marL="22860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533400" lvl="5" marL="27432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533400" lvl="6" marL="32004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●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533400" lvl="7" marL="36576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○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533400" lvl="8" marL="4114800" rtl="0" algn="ctr">
              <a:spcBef>
                <a:spcPts val="0"/>
              </a:spcBef>
              <a:spcAft>
                <a:spcPts val="0"/>
              </a:spcAft>
              <a:buSzPts val="4800"/>
              <a:buFont typeface="Open Sans Light"/>
              <a:buChar char="■"/>
              <a:defRPr sz="4800"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5200" y="1210250"/>
            <a:ext cx="15837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 Light"/>
              <a:buNone/>
              <a:defRPr sz="5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Open Sans"/>
              <a:buNone/>
              <a:defRPr sz="5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5200" y="3107750"/>
            <a:ext cx="15837600" cy="60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572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"/>
              <a:buChar char="●"/>
              <a:defRPr sz="3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9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Char char="○"/>
              <a:defRPr sz="3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810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810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810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810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810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■"/>
              <a:defRPr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rtl="0" algn="r">
              <a:buNone/>
              <a:defRPr sz="2000">
                <a:solidFill>
                  <a:schemeClr val="dk2"/>
                </a:solidFill>
              </a:defRPr>
            </a:lvl1pPr>
            <a:lvl2pPr lvl="1" rtl="0" algn="r">
              <a:buNone/>
              <a:defRPr sz="2000">
                <a:solidFill>
                  <a:schemeClr val="dk2"/>
                </a:solidFill>
              </a:defRPr>
            </a:lvl2pPr>
            <a:lvl3pPr lvl="2" rtl="0" algn="r">
              <a:buNone/>
              <a:defRPr sz="2000">
                <a:solidFill>
                  <a:schemeClr val="dk2"/>
                </a:solidFill>
              </a:defRPr>
            </a:lvl3pPr>
            <a:lvl4pPr lvl="3" rtl="0" algn="r">
              <a:buNone/>
              <a:defRPr sz="2000">
                <a:solidFill>
                  <a:schemeClr val="dk2"/>
                </a:solidFill>
              </a:defRPr>
            </a:lvl4pPr>
            <a:lvl5pPr lvl="4" rtl="0" algn="r">
              <a:buNone/>
              <a:defRPr sz="2000">
                <a:solidFill>
                  <a:schemeClr val="dk2"/>
                </a:solidFill>
              </a:defRPr>
            </a:lvl5pPr>
            <a:lvl6pPr lvl="5" rtl="0" algn="r">
              <a:buNone/>
              <a:defRPr sz="2000">
                <a:solidFill>
                  <a:schemeClr val="dk2"/>
                </a:solidFill>
              </a:defRPr>
            </a:lvl6pPr>
            <a:lvl7pPr lvl="6" rtl="0" algn="r">
              <a:buNone/>
              <a:defRPr sz="2000">
                <a:solidFill>
                  <a:schemeClr val="dk2"/>
                </a:solidFill>
              </a:defRPr>
            </a:lvl7pPr>
            <a:lvl8pPr lvl="7" rtl="0" algn="r">
              <a:buNone/>
              <a:defRPr sz="2000">
                <a:solidFill>
                  <a:schemeClr val="dk2"/>
                </a:solidFill>
              </a:defRPr>
            </a:lvl8pPr>
            <a:lvl9pPr lvl="8" rtl="0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279350" y="9860050"/>
            <a:ext cx="79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7D97AD"/>
                </a:solidFill>
                <a:latin typeface="Open Sans"/>
                <a:ea typeface="Open Sans"/>
                <a:cs typeface="Open Sans"/>
                <a:sym typeface="Open Sans"/>
              </a:rPr>
              <a:t>© 2024 Udacity. </a:t>
            </a:r>
            <a:endParaRPr sz="1000">
              <a:solidFill>
                <a:srgbClr val="0B0B0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3"/>
          <p:cNvSpPr txBox="1"/>
          <p:nvPr>
            <p:ph type="ctrTitle"/>
          </p:nvPr>
        </p:nvSpPr>
        <p:spPr>
          <a:xfrm>
            <a:off x="1225200" y="2813950"/>
            <a:ext cx="10070400" cy="2479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Open Sans"/>
              <a:buNone/>
            </a:pPr>
            <a:r>
              <a:rPr lang="en"/>
              <a:t>Sleep Health and Lifestyle Analysis</a:t>
            </a:r>
            <a:endParaRPr sz="1000"/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256200" y="5959675"/>
            <a:ext cx="100398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Clr>
                <a:srgbClr val="9CBDD8"/>
              </a:buClr>
              <a:buFont typeface="Open Sans"/>
              <a:buNone/>
            </a:pPr>
            <a:r>
              <a:rPr sz="2400"/>
              <a:t>Descriptive Statistics Analysis</a:t>
            </a:r>
            <a:endParaRPr b="1"/>
          </a:p>
          <a:p/>
          <a:p>
            <a:r>
              <a:rPr b="1" sz="2000"/>
              <a:t>Data Scientist: Leo 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Agenda</a:t>
            </a:r>
            <a:endParaRPr sz="6400"/>
          </a:p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Results of sleep health and lifestyle analysis</a:t>
            </a:r>
            <a:endParaRPr sz="3000">
              <a:solidFill>
                <a:srgbClr val="2D3D4A"/>
              </a:solidFill>
            </a:endParaRPr>
          </a:p>
          <a:p>
            <a:pPr indent="-723900" lvl="0" marL="9144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Data Description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Typical Amount of Physical Activity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Number of Daily Steps</a:t>
            </a:r>
            <a:endParaRPr sz="4200"/>
          </a:p>
          <a:p>
            <a:pPr indent="-7239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Char char="●"/>
            </a:pPr>
            <a:r>
              <a:rPr lang="en" sz="4200"/>
              <a:t>Distribution of Heart Rates</a:t>
            </a:r>
            <a:endParaRPr sz="3000">
              <a:solidFill>
                <a:srgbClr val="2D3D4A"/>
              </a:solidFill>
            </a:endParaRPr>
          </a:p>
          <a:p>
            <a:pPr indent="0" lvl="0" marL="228600" rtl="0" algn="l">
              <a:lnSpc>
                <a:spcPct val="115000"/>
              </a:lnSpc>
              <a:spcBef>
                <a:spcPts val="1400"/>
              </a:spcBef>
              <a:spcAft>
                <a:spcPts val="20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Data Description</a:t>
            </a:r>
            <a:endParaRPr sz="6400"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sz="2400">
                <a:solidFill>
                  <a:srgbClr val="2D3D4A"/>
                </a:solidFill>
              </a:rPr>
              <a:t>Sleep Duration is an example of a continuous variable in the dataset.</a:t>
            </a:r>
            <a:endParaRPr sz="3000">
              <a:solidFill>
                <a:srgbClr val="2D3D4A"/>
              </a:solidFill>
            </a:endParaRPr>
          </a:p>
          <a:p>
            <a:r>
              <a:rPr b="0" sz="2000">
                <a:solidFill>
                  <a:srgbClr val="7D97AD"/>
                </a:solidFill>
              </a:rPr>
              <a:t>    → Values like 5.9, 6.1, 7.8 hours; can take any decimal value in a range.</a:t>
            </a:r>
          </a:p>
          <a:p>
            <a:r>
              <a:rPr b="0" sz="1200"/>
              <a:t/>
            </a:r>
          </a:p>
          <a:p>
            <a:r>
              <a:rPr b="0" sz="2400">
                <a:solidFill>
                  <a:srgbClr val="2D3D4A"/>
                </a:solidFill>
              </a:rPr>
              <a:t>Daily Steps is an example of an integer variable in the dataset.</a:t>
            </a:r>
          </a:p>
          <a:p>
            <a:r>
              <a:rPr b="0" sz="2000">
                <a:solidFill>
                  <a:srgbClr val="7D97AD"/>
                </a:solidFill>
              </a:rPr>
              <a:t>    → Recorded as whole numbers (e.g., 4200, 10000, 3000 steps).</a:t>
            </a:r>
          </a:p>
          <a:p>
            <a:r>
              <a:rPr b="0" sz="1200"/>
              <a:t/>
            </a:r>
          </a:p>
          <a:p>
            <a:r>
              <a:rPr b="0" sz="2400">
                <a:solidFill>
                  <a:srgbClr val="2D3D4A"/>
                </a:solidFill>
              </a:rPr>
              <a:t>Quality of Sleep is an example of an ordinal categorical variable in the dataset.</a:t>
            </a:r>
          </a:p>
          <a:p>
            <a:r>
              <a:rPr b="0" sz="2000">
                <a:solidFill>
                  <a:srgbClr val="7D97AD"/>
                </a:solidFill>
              </a:rPr>
              <a:t>    → Rating scale 1-10 with natural ordering; higher = better sleep quality.</a:t>
            </a:r>
          </a:p>
          <a:p>
            <a:r>
              <a:rPr b="0" sz="1200"/>
              <a:t/>
            </a:r>
          </a:p>
          <a:p>
            <a:r>
              <a:rPr b="0" sz="2400">
                <a:solidFill>
                  <a:srgbClr val="2D3D4A"/>
                </a:solidFill>
              </a:rPr>
              <a:t>Occupation is an example of a nominal categorical variable in the dataset.</a:t>
            </a:r>
          </a:p>
          <a:p>
            <a:r>
              <a:rPr b="0" sz="2000">
                <a:solidFill>
                  <a:srgbClr val="7D97AD"/>
                </a:solidFill>
              </a:rPr>
              <a:t>    → Categories (Doctor, Engineer, Teacher) with no inherent 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Typical Amount (Minutes) of Physical Activity</a:t>
            </a:r>
            <a:endParaRPr sz="6400"/>
          </a:p>
        </p:txBody>
      </p:sp>
      <p:sp>
        <p:nvSpPr>
          <p:cNvPr id="136" name="Google Shape;136;p17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600">
                <a:solidFill>
                  <a:srgbClr val="2D3D4A"/>
                </a:solidFill>
              </a:rPr>
              <a:t>Measures of Center for Physical Activity Level (minutes/day):</a:t>
            </a:r>
            <a:endParaRPr sz="3000">
              <a:solidFill>
                <a:srgbClr val="2D3D4A"/>
              </a:solidFill>
            </a:endParaRPr>
          </a:p>
          <a:p>
            <a:r>
              <a:rPr b="0" sz="1200"/>
              <a:t/>
            </a:r>
          </a:p>
          <a:p>
            <a:r>
              <a:rPr b="0" sz="2400">
                <a:solidFill>
                  <a:srgbClr val="2D3D4A"/>
                </a:solidFill>
              </a:rPr>
              <a:t>    Mean:      59.17 minutes/day</a:t>
            </a:r>
          </a:p>
          <a:p>
            <a:r>
              <a:rPr b="0" sz="2400">
                <a:solidFill>
                  <a:srgbClr val="2D3D4A"/>
                </a:solidFill>
              </a:rPr>
              <a:t>    Median:   60.0 minutes/day</a:t>
            </a:r>
          </a:p>
          <a:p>
            <a:r>
              <a:rPr b="0" sz="2400">
                <a:solidFill>
                  <a:srgbClr val="2D3D4A"/>
                </a:solidFill>
              </a:rPr>
              <a:t>    Mode:      60.0 minutes/day</a:t>
            </a:r>
          </a:p>
          <a:p>
            <a:r>
              <a:rPr b="0" sz="1200"/>
              <a:t/>
            </a:r>
          </a:p>
          <a:p>
            <a:r>
              <a:rPr b="1" sz="2400">
                <a:solidFill>
                  <a:srgbClr val="2D3D4A"/>
                </a:solidFill>
              </a:rPr>
              <a:t>Skewness Analysis:</a:t>
            </a:r>
          </a:p>
          <a:p>
            <a:r>
              <a:rPr b="0" sz="2200">
                <a:solidFill>
                  <a:srgbClr val="2D3D4A"/>
                </a:solidFill>
              </a:rPr>
              <a:t>The mean (59.17) is slightly less than the median (60.0),</a:t>
            </a:r>
          </a:p>
          <a:p>
            <a:r>
              <a:rPr b="0" sz="2200">
                <a:solidFill>
                  <a:srgbClr val="2D3D4A"/>
                </a:solidFill>
              </a:rPr>
              <a:t>indicating a slightly left-skewed (negatively skewed) distribution.</a:t>
            </a:r>
          </a:p>
          <a:p>
            <a:r>
              <a:rPr b="0" sz="2200">
                <a:solidFill>
                  <a:srgbClr val="7D97AD"/>
                </a:solidFill>
              </a:rPr>
              <a:t>This suggests a small tail of lower physical activity values pulling</a:t>
            </a:r>
          </a:p>
          <a:p>
            <a:r>
              <a:rPr b="0" sz="2200">
                <a:solidFill>
                  <a:srgbClr val="7D97AD"/>
                </a:solidFill>
              </a:rPr>
              <a:t>the mean below the median.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Analysis of Daily Steps Taken</a:t>
            </a:r>
            <a:endParaRPr sz="6400"/>
          </a:p>
        </p:txBody>
      </p:sp>
      <p:sp>
        <p:nvSpPr>
          <p:cNvPr id="142" name="Google Shape;142;p18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600">
                <a:solidFill>
                  <a:srgbClr val="2D3D4A"/>
                </a:solidFill>
              </a:rPr>
              <a:t>Measures of Spread for Daily Steps:</a:t>
            </a:r>
            <a:endParaRPr sz="3000">
              <a:solidFill>
                <a:srgbClr val="2D3D4A"/>
              </a:solidFill>
            </a:endParaRPr>
          </a:p>
          <a:p>
            <a:r>
              <a:rPr b="0" sz="1200"/>
              <a:t/>
            </a:r>
          </a:p>
          <a:p>
            <a:r>
              <a:rPr b="0" sz="2400">
                <a:solidFill>
                  <a:srgbClr val="2D3D4A"/>
                </a:solidFill>
              </a:rPr>
              <a:t>    Standard Deviation:   1,617.92 steps</a:t>
            </a:r>
          </a:p>
          <a:p>
            <a:r>
              <a:rPr b="0" sz="2400">
                <a:solidFill>
                  <a:srgbClr val="2D3D4A"/>
                </a:solidFill>
              </a:rPr>
              <a:t>    Maximum:                  10,000 steps</a:t>
            </a:r>
          </a:p>
          <a:p>
            <a:r>
              <a:rPr b="0" sz="2400">
                <a:solidFill>
                  <a:srgbClr val="2D3D4A"/>
                </a:solidFill>
              </a:rPr>
              <a:t>    Minimum:                   3,000 steps</a:t>
            </a:r>
          </a:p>
          <a:p>
            <a:r>
              <a:rPr b="0" sz="2400">
                <a:solidFill>
                  <a:srgbClr val="2D3D4A"/>
                </a:solidFill>
              </a:rPr>
              <a:t>    Range:                       7,000 steps</a:t>
            </a:r>
          </a:p>
          <a:p>
            <a:r>
              <a:rPr b="0" sz="1200"/>
              <a:t/>
            </a:r>
          </a:p>
          <a:p>
            <a:r>
              <a:rPr b="1" sz="2400">
                <a:solidFill>
                  <a:srgbClr val="2D3D4A"/>
                </a:solidFill>
              </a:rPr>
              <a:t>Additional Measures of Spread:</a:t>
            </a:r>
          </a:p>
          <a:p>
            <a:r>
              <a:rPr b="0" sz="2200">
                <a:solidFill>
                  <a:srgbClr val="2D3D4A"/>
                </a:solidFill>
              </a:rPr>
              <a:t>    Q1 (25th percentile):    5,600 steps</a:t>
            </a:r>
          </a:p>
          <a:p>
            <a:r>
              <a:rPr b="0" sz="2200">
                <a:solidFill>
                  <a:srgbClr val="2D3D4A"/>
                </a:solidFill>
              </a:rPr>
              <a:t>    Q3 (75th percentile):    8,000 steps</a:t>
            </a:r>
          </a:p>
          <a:p>
            <a:r>
              <a:rPr b="0" sz="2200">
                <a:solidFill>
                  <a:srgbClr val="2D3D4A"/>
                </a:solidFill>
              </a:rPr>
              <a:t>    IQR (Q3 − Q1):            2,400 steps</a:t>
            </a:r>
          </a:p>
          <a:p>
            <a:r>
              <a:rPr b="0" sz="2200">
                <a:solidFill>
                  <a:srgbClr val="2D3D4A"/>
                </a:solidFill>
              </a:rPr>
              <a:t>    Variance:                     2,617,651.14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>
            <p:ph type="title"/>
          </p:nvPr>
        </p:nvSpPr>
        <p:spPr>
          <a:xfrm>
            <a:off x="685800" y="307965"/>
            <a:ext cx="16916400" cy="15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/>
              <a:t>Distribution of Heart Rates</a:t>
            </a:r>
            <a:endParaRPr sz="6400"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685850" y="1828800"/>
            <a:ext cx="16393800" cy="66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400">
                <a:solidFill>
                  <a:srgbClr val="2D3D4A"/>
                </a:solidFill>
              </a:rPr>
              <a:t>Distribution Shape: Right-skewed (positively skewed)</a:t>
            </a:r>
            <a:endParaRPr sz="3000">
              <a:solidFill>
                <a:srgbClr val="2D3D4A"/>
              </a:solidFill>
            </a:endParaRPr>
          </a:p>
          <a:p>
            <a:r>
              <a:rPr b="0" sz="2000">
                <a:solidFill>
                  <a:srgbClr val="2D3D4A"/>
                </a:solidFill>
              </a:rPr>
              <a:t>Mean (70.17 bpm) &gt; Median (70.0 bpm), confirming right skew.</a:t>
            </a:r>
          </a:p>
          <a:p>
            <a:r>
              <a:rPr b="0" sz="1000"/>
              <a:t/>
            </a:r>
          </a:p>
          <a:p>
            <a:r>
              <a:rPr b="1" sz="2200">
                <a:solidFill>
                  <a:srgbClr val="2D3D4A"/>
                </a:solidFill>
              </a:rPr>
              <a:t>Outliers (IQR method, bounds: 62–78 bpm):</a:t>
            </a:r>
          </a:p>
          <a:p>
            <a:r>
              <a:rPr b="0" sz="2000">
                <a:solidFill>
                  <a:srgbClr val="7D97AD"/>
                </a:solidFill>
              </a:rPr>
              <a:t>Values above 78 bpm: 80, 81, 82, 83, 84, 85, 86 bpm</a:t>
            </a:r>
          </a:p>
          <a:p>
            <a:r>
              <a:rPr b="0" sz="2000">
                <a:solidFill>
                  <a:srgbClr val="7D97AD"/>
                </a:solidFill>
              </a:rPr>
              <a:t>These 7 high heart rate values may indicate individuals with</a:t>
            </a:r>
          </a:p>
          <a:p>
            <a:r>
              <a:rPr b="0" sz="2000">
                <a:solidFill>
                  <a:srgbClr val="7D97AD"/>
                </a:solidFill>
              </a:rPr>
              <a:t>elevated cardiovascular stress or sleep disorders.</a:t>
            </a:r>
          </a:p>
        </p:txBody>
      </p:sp>
      <p:pic>
        <p:nvPicPr>
          <p:cNvPr id="149" name="Picture 148" descr="heart_rat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000" y="2000000"/>
            <a:ext cx="8000000" cy="6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dacity 2024 Student Template">
  <a:themeElements>
    <a:clrScheme name="Simple Light">
      <a:dk1>
        <a:srgbClr val="0B0B0B"/>
      </a:dk1>
      <a:lt1>
        <a:srgbClr val="FFFFFF"/>
      </a:lt1>
      <a:dk2>
        <a:srgbClr val="171A53"/>
      </a:dk2>
      <a:lt2>
        <a:srgbClr val="F6F6F6"/>
      </a:lt2>
      <a:accent1>
        <a:srgbClr val="2015FF"/>
      </a:accent1>
      <a:accent2>
        <a:srgbClr val="00C5A1"/>
      </a:accent2>
      <a:accent3>
        <a:srgbClr val="DBE2E8"/>
      </a:accent3>
      <a:accent4>
        <a:srgbClr val="BDEA09"/>
      </a:accent4>
      <a:accent5>
        <a:srgbClr val="6597FF"/>
      </a:accent5>
      <a:accent6>
        <a:srgbClr val="B181FF"/>
      </a:accent6>
      <a:hlink>
        <a:srgbClr val="201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