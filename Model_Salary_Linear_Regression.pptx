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Roboto Mono Light"/>
      <p:regular r:id="rId12"/>
      <p:bold r:id="rId13"/>
      <p:italic r:id="rId14"/>
      <p:boldItalic r:id="rId15"/>
    </p:embeddedFont>
    <p:embeddedFont>
      <p:font typeface="Open Sans Light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RobotoMonoLight-regular.fntdata"/><Relationship Id="rId13" Type="http://schemas.openxmlformats.org/officeDocument/2006/relationships/font" Target="fonts/RobotoMonoLight-bold.fntdata"/><Relationship Id="rId14" Type="http://schemas.openxmlformats.org/officeDocument/2006/relationships/font" Target="fonts/RobotoMonoLight-italic.fntdata"/><Relationship Id="rId15" Type="http://schemas.openxmlformats.org/officeDocument/2006/relationships/font" Target="fonts/RobotoMonoLight-boldItalic.fntdata"/><Relationship Id="rId16" Type="http://schemas.openxmlformats.org/officeDocument/2006/relationships/font" Target="fonts/OpenSansLight-regular.fntdata"/><Relationship Id="rId17" Type="http://schemas.openxmlformats.org/officeDocument/2006/relationships/font" Target="fonts/OpenSansLight-bold.fntdata"/><Relationship Id="rId18" Type="http://schemas.openxmlformats.org/officeDocument/2006/relationships/font" Target="fonts/OpenSansLight-italic.fntdata"/><Relationship Id="rId19" Type="http://schemas.openxmlformats.org/officeDocument/2006/relationships/font" Target="fonts/OpenSansLight-boldItalic.fntdata"/><Relationship Id="rId20" Type="http://schemas.openxmlformats.org/officeDocument/2006/relationships/font" Target="fonts/OpenSans-regular.fntdata"/><Relationship Id="rId21" Type="http://schemas.openxmlformats.org/officeDocument/2006/relationships/font" Target="fonts/OpenSans-bold.fntdata"/><Relationship Id="rId22" Type="http://schemas.openxmlformats.org/officeDocument/2006/relationships/font" Target="fonts/OpenSans-italic.fntdata"/><Relationship Id="rId23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1d5f8f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1d5f8f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01d5f8f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01d5f8f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Salary Data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75598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b="1" lang="en"/>
              <a:t>Data Scientist: Leo Lin</a:t>
            </a:r>
            <a:endParaRPr b="1"/>
          </a:p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505050"/>
                </a:solidFill>
              </a:rPr>
              <a:t>Findings of linear regression modeling with salary data</a:t>
            </a:r>
            <a:endParaRPr sz="3000">
              <a:solidFill>
                <a:srgbClr val="2D3D4A"/>
              </a:solidFill>
            </a:endParaRP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1. Data Description</a:t>
            </a:r>
          </a:p>
          <a:p>
            <a:r>
              <a:rPr sz="1200" b="0">
                <a:solidFill>
                  <a:srgbClr val="505050"/>
                </a:solidFill>
              </a:rPr>
              <a:t>    373 employees, missing data handling, salary range, EDA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2. Regression Results</a:t>
            </a:r>
          </a:p>
          <a:p>
            <a:r>
              <a:rPr sz="1200" b="0">
                <a:solidFill>
                  <a:srgbClr val="505050"/>
                </a:solidFill>
              </a:rPr>
              <a:t>    Full model (10 features) → Reduced model (7 significant features)</a:t>
            </a:r>
          </a:p>
          <a:p>
            <a:r>
              <a:rPr sz="800" b="0"/>
              <a:t/>
            </a:r>
          </a:p>
          <a:p>
            <a:r>
              <a:rPr sz="1600" b="1">
                <a:solidFill>
                  <a:srgbClr val="003366"/>
                </a:solidFill>
              </a:rPr>
              <a:t>3. Interpretation and Next Steps</a:t>
            </a:r>
          </a:p>
          <a:p>
            <a:r>
              <a:rPr sz="1200" b="0">
                <a:solidFill>
                  <a:srgbClr val="505050"/>
                </a:solidFill>
              </a:rPr>
              <a:t>    Coefficient interpretation, confidence intervals,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3366"/>
                </a:solidFill>
              </a:rPr>
              <a:t>Dataset Overview:</a:t>
            </a:r>
            <a:endParaRPr>
              <a:solidFill>
                <a:srgbClr val="FF0000"/>
              </a:solidFill>
            </a:endParaRPr>
          </a:p>
          <a:p>
            <a:r>
              <a:rPr sz="1300" b="0"/>
              <a:t>  Employees: 375 total, 373 after removing 2 rows with missing values</a:t>
            </a:r>
          </a:p>
          <a:p>
            <a:r>
              <a:rPr sz="1300" b="0"/>
              <a:t>  Missing data: 2 rows had NaN in all columns — dropped (&lt; 1%)</a:t>
            </a:r>
          </a:p>
          <a:p>
            <a:r>
              <a:rPr sz="1300" b="0"/>
              <a:t>  Salary range: $350 – $250,000 (mean: $100,577, median: $95,000)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003366"/>
                </a:solidFill>
              </a:rPr>
              <a:t>Features Correlated with Salary:</a:t>
            </a:r>
          </a:p>
          <a:p>
            <a:r>
              <a:rPr sz="1300" b="0"/>
              <a:t>  Years of Experience: r = 0.92 (strong positive correlation)</a:t>
            </a:r>
          </a:p>
          <a:p>
            <a:r>
              <a:rPr sz="1300" b="0"/>
              <a:t>  Education: Bachelor's $74,756 &lt; Master's $129,796 &lt; PhD $157,843</a:t>
            </a:r>
          </a:p>
          <a:p>
            <a:r>
              <a:rPr sz="1300" b="0"/>
              <a:t>  Gender: Males $103,868 vs Females $97,011 (+$6,857 gap)</a:t>
            </a:r>
          </a:p>
          <a:p>
            <a:r>
              <a:rPr sz="1300" b="0"/>
              <a:t>  Job Title: Director and Senior titles associated with higher salary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Regression Results</a:t>
            </a:r>
            <a:endParaRPr sz="6400"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03366"/>
                </a:solidFill>
              </a:rPr>
              <a:t>Full Model (10 features): R² = 0.9154</a:t>
            </a:r>
            <a:endParaRPr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505050"/>
                </a:solidFill>
              </a:rPr>
              <a:t>  3 features NOT significant (p &gt; 0.05):</a:t>
            </a:r>
          </a:p>
          <a:p>
            <a:r>
              <a:rPr sz="1200" b="0">
                <a:solidFill>
                  <a:srgbClr val="990000"/>
                </a:solidFill>
              </a:rPr>
              <a:t>  is_junior (p=0.068), is_analyst (p=0.933), is_engineer (p=0.508)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6633"/>
                </a:solidFill>
              </a:rPr>
              <a:t>Reduced Model (7 features): R² = 0.9145, Adj R² = 0.9128</a:t>
            </a:r>
          </a:p>
          <a:p>
            <a:r>
              <a:rPr sz="600" b="0"/>
              <a:t/>
            </a:r>
          </a:p>
          <a:p>
            <a:r>
              <a:rPr sz="1100" b="1">
                <a:solidFill>
                  <a:srgbClr val="505050"/>
                </a:solidFill>
              </a:rPr>
              <a:t>  Variable              Coef        p-value    Significant</a:t>
            </a:r>
          </a:p>
          <a:p>
            <a:r>
              <a:rPr sz="1100" b="0"/>
              <a:t>  Intercept            $28,761      &lt; 0.001    Yes</a:t>
            </a:r>
          </a:p>
          <a:p>
            <a:r>
              <a:rPr sz="1100" b="0"/>
              <a:t>  Years of Experience  $5,104       &lt; 0.001    Yes</a:t>
            </a:r>
          </a:p>
          <a:p>
            <a:r>
              <a:rPr sz="1100" b="0"/>
              <a:t>  is_male              $7,630       &lt; 0.001    Yes</a:t>
            </a:r>
          </a:p>
          <a:p>
            <a:r>
              <a:rPr sz="1100" b="0"/>
              <a:t>  has_masters          $14,037      &lt; 0.001    Yes</a:t>
            </a:r>
          </a:p>
          <a:p>
            <a:r>
              <a:rPr sz="1100" b="0"/>
              <a:t>  has_phd              $23,081      &lt; 0.001    Yes</a:t>
            </a:r>
          </a:p>
          <a:p>
            <a:r>
              <a:rPr sz="1100" b="0"/>
              <a:t>  is_director          $24,981      &lt; 0.001    Yes</a:t>
            </a:r>
          </a:p>
          <a:p>
            <a:r>
              <a:rPr sz="1100" b="0"/>
              <a:t>  is_senior            $14,446      &lt; 0.001    Yes</a:t>
            </a:r>
          </a:p>
          <a:p>
            <a:r>
              <a:rPr sz="1100" b="0"/>
              <a:t>  is_manager           $4,285       0.019      Yes</a:t>
            </a:r>
          </a:p>
          <a:p>
            <a:r>
              <a:rPr sz="600" b="0"/>
              <a:t/>
            </a:r>
          </a:p>
          <a:p>
            <a:r>
              <a:rPr sz="1200" b="1">
                <a:solidFill>
                  <a:srgbClr val="006633"/>
                </a:solidFill>
              </a:rPr>
              <a:t>Model explains 91.5% of salary variance. All features significant.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Interpretation and Next Steps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3366"/>
                </a:solidFill>
              </a:rPr>
              <a:t>Variable 1: Years of Experience</a:t>
            </a:r>
            <a:endParaRPr>
              <a:solidFill>
                <a:srgbClr val="FF0000"/>
              </a:solidFill>
            </a:endParaRPr>
          </a:p>
          <a:p>
            <a:r>
              <a:rPr sz="1300" b="0"/>
              <a:t>  Each additional year → +$5,104 salary increase</a:t>
            </a:r>
          </a:p>
          <a:p>
            <a:r>
              <a:rPr sz="1300" b="0"/>
              <a:t>  95% CI: ($4,756, $5,453)</a:t>
            </a:r>
          </a:p>
          <a:p>
            <a:r>
              <a:rPr sz="1200" b="0">
                <a:solidFill>
                  <a:srgbClr val="505050"/>
                </a:solidFill>
              </a:rPr>
              <a:t>  We are 95% confident that each year of experience increases</a:t>
            </a:r>
          </a:p>
          <a:p>
            <a:r>
              <a:rPr sz="1200" b="0">
                <a:solidFill>
                  <a:srgbClr val="505050"/>
                </a:solidFill>
              </a:rPr>
              <a:t>  salary by $4,756 to $5,453, holding other variables constant.</a:t>
            </a:r>
          </a:p>
          <a:p>
            <a:r>
              <a:rPr sz="800" b="0"/>
              <a:t/>
            </a:r>
          </a:p>
          <a:p>
            <a:r>
              <a:rPr sz="1500" b="1">
                <a:solidFill>
                  <a:srgbClr val="003366"/>
                </a:solidFill>
              </a:rPr>
              <a:t>Variable 2: PhD (vs Bachelor's)</a:t>
            </a:r>
          </a:p>
          <a:p>
            <a:r>
              <a:rPr sz="1300" b="0"/>
              <a:t>  PhD holders earn +$23,081 more than Bachelor's holders</a:t>
            </a:r>
          </a:p>
          <a:p>
            <a:r>
              <a:rPr sz="1300" b="0"/>
              <a:t>  95% CI: ($17,652, $28,510)</a:t>
            </a:r>
          </a:p>
          <a:p>
            <a:r>
              <a:rPr sz="1200" b="0">
                <a:solidFill>
                  <a:srgbClr val="505050"/>
                </a:solidFill>
              </a:rPr>
              <a:t>  We are 95% confident that having a PhD increases salary by</a:t>
            </a:r>
          </a:p>
          <a:p>
            <a:r>
              <a:rPr sz="1200" b="0">
                <a:solidFill>
                  <a:srgbClr val="505050"/>
                </a:solidFill>
              </a:rPr>
              <a:t>  $17,652 to $28,510 compared to a Bachelor's degree.</a:t>
            </a:r>
          </a:p>
          <a:p>
            <a:r>
              <a:rPr sz="800" b="0"/>
              <a:t/>
            </a:r>
          </a:p>
          <a:p>
            <a:r>
              <a:rPr sz="1400" b="1">
                <a:solidFill>
                  <a:srgbClr val="003366"/>
                </a:solidFill>
              </a:rPr>
              <a:t>Prediction Example:</a:t>
            </a:r>
          </a:p>
          <a:p>
            <a:r>
              <a:rPr sz="1300" b="0"/>
              <a:t>  Male, 5yr exp, senior title, bachelor's → $76,359</a:t>
            </a:r>
          </a:p>
          <a:p>
            <a:r>
              <a:rPr sz="1300" b="0"/>
              <a:t>  If actual = $110,000 → Residual = +$33,641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